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0" r:id="rId3"/>
    <p:sldId id="271" r:id="rId4"/>
    <p:sldId id="272" r:id="rId5"/>
    <p:sldId id="288" r:id="rId6"/>
    <p:sldId id="289" r:id="rId7"/>
    <p:sldId id="287" r:id="rId8"/>
    <p:sldId id="292" r:id="rId9"/>
    <p:sldId id="293" r:id="rId10"/>
    <p:sldId id="296" r:id="rId11"/>
    <p:sldId id="284" r:id="rId12"/>
    <p:sldId id="274" r:id="rId13"/>
    <p:sldId id="276" r:id="rId14"/>
    <p:sldId id="294" r:id="rId15"/>
    <p:sldId id="295" r:id="rId16"/>
    <p:sldId id="291" r:id="rId17"/>
    <p:sldId id="269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4DCD3-9D63-D2A1-1162-2B5BF9B3A108}" v="3" dt="2026-01-14T22:42:59.929"/>
    <p1510:client id="{A92F25A4-BE7E-8EBE-44CC-F41C2A95CE7B}" v="117" dt="2026-01-14T16:04:19.215"/>
    <p1510:client id="{BE639649-76DE-5C0B-BCBD-4B999BD92E93}" v="843" dt="2026-01-14T17:57:42.070"/>
    <p1510:client id="{D5B0E49A-2CD0-A8C8-167A-D0A6F4BDD18A}" v="632" dt="2026-01-14T16:45:37.784"/>
    <p1510:client id="{F43FE416-EF57-1BE2-087D-10FECC34AF46}" v="571" dt="2026-01-14T18:12:58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9446" y="258879"/>
            <a:ext cx="1756971" cy="3000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31690" y="2268474"/>
            <a:ext cx="2662554" cy="701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t>Case</a:t>
            </a:r>
            <a:r>
              <a:rPr spc="-60"/>
              <a:t> </a:t>
            </a:r>
            <a:r>
              <a:t>Study</a:t>
            </a:r>
            <a:r>
              <a:rPr spc="-70"/>
              <a:t> </a:t>
            </a:r>
            <a:r>
              <a:rPr spc="-10"/>
              <a:t>Intelligent</a:t>
            </a:r>
            <a:r>
              <a:rPr spc="-5"/>
              <a:t> </a:t>
            </a:r>
            <a:r>
              <a:t>Systems</a:t>
            </a:r>
            <a:r>
              <a:rPr spc="-5"/>
              <a:t> </a:t>
            </a:r>
            <a:r>
              <a:t>in</a:t>
            </a:r>
            <a:r>
              <a:rPr spc="-15"/>
              <a:t> </a:t>
            </a:r>
            <a:r>
              <a:rPr spc="-10"/>
              <a:t>Production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/>
              <a:t>03-01-</a:t>
            </a:r>
            <a:r>
              <a:rPr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t>Case</a:t>
            </a:r>
            <a:r>
              <a:rPr spc="-60"/>
              <a:t> </a:t>
            </a:r>
            <a:r>
              <a:t>Study</a:t>
            </a:r>
            <a:r>
              <a:rPr spc="-70"/>
              <a:t> </a:t>
            </a:r>
            <a:r>
              <a:rPr spc="-10"/>
              <a:t>Intelligent</a:t>
            </a:r>
            <a:r>
              <a:rPr spc="-5"/>
              <a:t> </a:t>
            </a:r>
            <a:r>
              <a:t>Systems</a:t>
            </a:r>
            <a:r>
              <a:rPr spc="-5"/>
              <a:t> </a:t>
            </a:r>
            <a:r>
              <a:t>in</a:t>
            </a:r>
            <a:r>
              <a:rPr spc="-15"/>
              <a:t> </a:t>
            </a:r>
            <a:r>
              <a:rPr spc="-10"/>
              <a:t>Production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/>
              <a:t>03-01-</a:t>
            </a:r>
            <a:r>
              <a:rPr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t>Case</a:t>
            </a:r>
            <a:r>
              <a:rPr spc="-60"/>
              <a:t> </a:t>
            </a:r>
            <a:r>
              <a:t>Study</a:t>
            </a:r>
            <a:r>
              <a:rPr spc="-70"/>
              <a:t> </a:t>
            </a:r>
            <a:r>
              <a:rPr spc="-10"/>
              <a:t>Intelligent</a:t>
            </a:r>
            <a:r>
              <a:rPr spc="-5"/>
              <a:t> </a:t>
            </a:r>
            <a:r>
              <a:t>Systems</a:t>
            </a:r>
            <a:r>
              <a:rPr spc="-5"/>
              <a:t> </a:t>
            </a:r>
            <a:r>
              <a:t>in</a:t>
            </a:r>
            <a:r>
              <a:rPr spc="-15"/>
              <a:t> </a:t>
            </a:r>
            <a:r>
              <a:rPr spc="-10"/>
              <a:t>Production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/>
              <a:t>03-01-</a:t>
            </a:r>
            <a:r>
              <a:rPr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t>Case</a:t>
            </a:r>
            <a:r>
              <a:rPr spc="-60"/>
              <a:t> </a:t>
            </a:r>
            <a:r>
              <a:t>Study</a:t>
            </a:r>
            <a:r>
              <a:rPr spc="-70"/>
              <a:t> </a:t>
            </a:r>
            <a:r>
              <a:rPr spc="-10"/>
              <a:t>Intelligent</a:t>
            </a:r>
            <a:r>
              <a:rPr spc="-5"/>
              <a:t> </a:t>
            </a:r>
            <a:r>
              <a:t>Systems</a:t>
            </a:r>
            <a:r>
              <a:rPr spc="-5"/>
              <a:t> </a:t>
            </a:r>
            <a:r>
              <a:t>in</a:t>
            </a:r>
            <a:r>
              <a:rPr spc="-15"/>
              <a:t> </a:t>
            </a:r>
            <a:r>
              <a:rPr spc="-10"/>
              <a:t>Production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/>
              <a:t>03-01-</a:t>
            </a:r>
            <a:r>
              <a:rPr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t>Case</a:t>
            </a:r>
            <a:r>
              <a:rPr spc="-60"/>
              <a:t> </a:t>
            </a:r>
            <a:r>
              <a:t>Study</a:t>
            </a:r>
            <a:r>
              <a:rPr spc="-70"/>
              <a:t> </a:t>
            </a:r>
            <a:r>
              <a:rPr spc="-10"/>
              <a:t>Intelligent</a:t>
            </a:r>
            <a:r>
              <a:rPr spc="-5"/>
              <a:t> </a:t>
            </a:r>
            <a:r>
              <a:t>Systems</a:t>
            </a:r>
            <a:r>
              <a:rPr spc="-5"/>
              <a:t> </a:t>
            </a:r>
            <a:r>
              <a:t>in</a:t>
            </a:r>
            <a:r>
              <a:rPr spc="-15"/>
              <a:t> </a:t>
            </a:r>
            <a:r>
              <a:rPr spc="-10"/>
              <a:t>Production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/>
              <a:t>03-01-</a:t>
            </a:r>
            <a:r>
              <a:rPr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68971" y="288657"/>
            <a:ext cx="1756971" cy="3074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6259" y="159067"/>
            <a:ext cx="11079480" cy="517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5307" y="1204023"/>
            <a:ext cx="10141585" cy="4420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21859" y="6441747"/>
            <a:ext cx="2751454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t>Case</a:t>
            </a:r>
            <a:r>
              <a:rPr spc="-60"/>
              <a:t> </a:t>
            </a:r>
            <a:r>
              <a:t>Study</a:t>
            </a:r>
            <a:r>
              <a:rPr spc="-70"/>
              <a:t> </a:t>
            </a:r>
            <a:r>
              <a:rPr spc="-10"/>
              <a:t>Intelligent</a:t>
            </a:r>
            <a:r>
              <a:rPr spc="-5"/>
              <a:t> </a:t>
            </a:r>
            <a:r>
              <a:t>Systems</a:t>
            </a:r>
            <a:r>
              <a:rPr spc="-5"/>
              <a:t> </a:t>
            </a:r>
            <a:r>
              <a:t>in</a:t>
            </a:r>
            <a:r>
              <a:rPr spc="-15"/>
              <a:t> </a:t>
            </a:r>
            <a:r>
              <a:rPr spc="-10"/>
              <a:t>Production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41747"/>
            <a:ext cx="744219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/>
              <a:t>03-01-</a:t>
            </a:r>
            <a:r>
              <a:rPr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1451" y="6441747"/>
            <a:ext cx="21590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8470" y="360679"/>
            <a:ext cx="7989570" cy="1075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92275" marR="5080" indent="-1680210">
              <a:lnSpc>
                <a:spcPct val="108000"/>
              </a:lnSpc>
              <a:spcBef>
                <a:spcPts val="95"/>
              </a:spcBef>
            </a:pPr>
            <a:r>
              <a:t>Integration</a:t>
            </a:r>
            <a:r>
              <a:rPr spc="-100"/>
              <a:t> </a:t>
            </a:r>
            <a:r>
              <a:t>and</a:t>
            </a:r>
            <a:r>
              <a:rPr spc="-75"/>
              <a:t> </a:t>
            </a:r>
            <a:r>
              <a:t>Comparison</a:t>
            </a:r>
            <a:r>
              <a:rPr spc="-100"/>
              <a:t> </a:t>
            </a:r>
            <a:r>
              <a:t>of</a:t>
            </a:r>
            <a:r>
              <a:rPr spc="-130"/>
              <a:t> </a:t>
            </a:r>
            <a:r>
              <a:t>Vision</a:t>
            </a:r>
            <a:r>
              <a:rPr spc="-25"/>
              <a:t> </a:t>
            </a:r>
            <a:r>
              <a:rPr spc="-10"/>
              <a:t>Models </a:t>
            </a:r>
            <a:r>
              <a:t>for</a:t>
            </a:r>
            <a:r>
              <a:rPr spc="-160"/>
              <a:t> </a:t>
            </a:r>
            <a:r>
              <a:t>Smart</a:t>
            </a:r>
            <a:r>
              <a:rPr spc="-45"/>
              <a:t> </a:t>
            </a:r>
            <a:r>
              <a:t>Inspection</a:t>
            </a:r>
            <a:r>
              <a:rPr spc="-75"/>
              <a:t> </a:t>
            </a:r>
            <a:r>
              <a:rPr spc="-20"/>
              <a:t>Cell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4850" y="2119312"/>
            <a:ext cx="3486150" cy="1997342"/>
          </a:xfrm>
          <a:prstGeom prst="rect">
            <a:avLst/>
          </a:prstGeom>
        </p:spPr>
        <p:txBody>
          <a:bodyPr vert="horz" wrap="square" lIns="0" tIns="90805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800" b="1">
                <a:latin typeface="Times New Roman" panose="02020603050405020304"/>
                <a:cs typeface="Times New Roman" panose="02020603050405020304"/>
              </a:rPr>
              <a:t>Case</a:t>
            </a:r>
            <a:r>
              <a:rPr sz="1800" b="1" spc="-5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>
                <a:latin typeface="Times New Roman" panose="02020603050405020304"/>
                <a:cs typeface="Times New Roman" panose="02020603050405020304"/>
              </a:rPr>
              <a:t>Study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800" b="1" i="1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800" b="1" i="1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i="1">
                <a:latin typeface="Times New Roman" panose="02020603050405020304"/>
                <a:cs typeface="Times New Roman" panose="02020603050405020304"/>
              </a:rPr>
              <a:t>Systems</a:t>
            </a:r>
            <a:r>
              <a:rPr sz="1800" b="1" i="1" spc="-5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i="1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b="1" i="1" spc="-5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i="1" spc="-10">
                <a:latin typeface="Times New Roman" panose="02020603050405020304"/>
                <a:cs typeface="Times New Roman" panose="02020603050405020304"/>
              </a:rPr>
              <a:t>Production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sz="1800" b="1" spc="-10">
                <a:latin typeface="Times New Roman" panose="02020603050405020304"/>
                <a:cs typeface="Times New Roman" panose="02020603050405020304"/>
              </a:rPr>
              <a:t>Technische</a:t>
            </a:r>
            <a:r>
              <a:rPr sz="1800" b="1" spc="-8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>
                <a:latin typeface="Times New Roman" panose="02020603050405020304"/>
                <a:cs typeface="Times New Roman" panose="02020603050405020304"/>
              </a:rPr>
              <a:t>Hochschule</a:t>
            </a:r>
            <a:r>
              <a:rPr sz="1800" b="1" spc="-55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b="1" spc="-10" err="1">
                <a:latin typeface="Times New Roman" panose="02020603050405020304"/>
                <a:cs typeface="Times New Roman" panose="02020603050405020304"/>
              </a:rPr>
              <a:t>Deggendorf</a:t>
            </a:r>
            <a:endParaRPr lang="en-US" err="1"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lang="en-US">
                <a:latin typeface="Times New Roman" panose="02020603050405020304"/>
                <a:cs typeface="Times New Roman" panose="02020603050405020304"/>
              </a:rPr>
              <a:t>Campus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>
                <a:latin typeface="Times New Roman" panose="02020603050405020304"/>
                <a:cs typeface="Times New Roman" panose="02020603050405020304"/>
              </a:rPr>
              <a:t>Cham </a:t>
            </a: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 algn="ctr"/>
            <a:r>
              <a:rPr sz="1800">
                <a:latin typeface="Times New Roman" panose="02020603050405020304"/>
                <a:cs typeface="Times New Roman" panose="02020603050405020304"/>
              </a:rPr>
              <a:t>Date</a:t>
            </a:r>
            <a:r>
              <a:rPr sz="18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800" spc="3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IN" sz="1800" spc="-1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.</a:t>
            </a:r>
            <a:r>
              <a:rPr lang="en-IN" sz="1800" spc="-10">
                <a:latin typeface="Times New Roman" panose="02020603050405020304"/>
                <a:cs typeface="Times New Roman" panose="02020603050405020304"/>
              </a:rPr>
              <a:t>01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.202</a:t>
            </a:r>
            <a:r>
              <a:rPr lang="en-IN" sz="1800" spc="-10">
                <a:latin typeface="Times New Roman" panose="02020603050405020304"/>
                <a:cs typeface="Times New Roman" panose="02020603050405020304"/>
              </a:rPr>
              <a:t>6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3296" y="1660357"/>
            <a:ext cx="2134121" cy="3659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2039" y="4452175"/>
            <a:ext cx="2363470" cy="204851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sz="1800" b="1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>
                <a:latin typeface="Times New Roman" panose="02020603050405020304"/>
                <a:cs typeface="Times New Roman" panose="02020603050405020304"/>
              </a:rPr>
              <a:t>members: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20000"/>
              </a:lnSpc>
              <a:spcBef>
                <a:spcPts val="190"/>
              </a:spcBef>
            </a:pPr>
            <a:r>
              <a:rPr sz="1800">
                <a:latin typeface="Times New Roman" panose="02020603050405020304"/>
                <a:cs typeface="Times New Roman" panose="02020603050405020304"/>
              </a:rPr>
              <a:t>Sai</a:t>
            </a:r>
            <a:r>
              <a:rPr sz="18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Prasanth</a:t>
            </a:r>
            <a:r>
              <a:rPr sz="1800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Parnambedu </a:t>
            </a:r>
            <a:r>
              <a:rPr sz="1800" spc="-25">
                <a:latin typeface="Times New Roman" panose="02020603050405020304"/>
                <a:cs typeface="Times New Roman" panose="02020603050405020304"/>
              </a:rPr>
              <a:t>Yaswitha</a:t>
            </a:r>
            <a:r>
              <a:rPr sz="1800" spc="-3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Pallela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Rakshith</a:t>
            </a:r>
            <a:r>
              <a:rPr sz="1800" spc="-5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Thatikonda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Prarthana</a:t>
            </a:r>
            <a:r>
              <a:rPr sz="18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Shenoy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Chandrika</a:t>
            </a:r>
            <a:r>
              <a:rPr sz="1800" spc="-4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Tirukkovalluri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3726" y="4824920"/>
            <a:ext cx="1858010" cy="16757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31750" algn="just">
              <a:lnSpc>
                <a:spcPct val="120000"/>
              </a:lnSpc>
              <a:spcBef>
                <a:spcPts val="135"/>
              </a:spcBef>
            </a:pPr>
            <a:r>
              <a:rPr sz="1800">
                <a:latin typeface="Times New Roman" panose="02020603050405020304"/>
                <a:cs typeface="Times New Roman" panose="02020603050405020304"/>
              </a:rPr>
              <a:t>(Mt</a:t>
            </a:r>
            <a:r>
              <a:rPr sz="18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8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12502673)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(Mt</a:t>
            </a:r>
            <a:r>
              <a:rPr sz="18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8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12504195)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(Mt</a:t>
            </a:r>
            <a:r>
              <a:rPr sz="18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8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12503565)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(Mt</a:t>
            </a:r>
            <a:r>
              <a:rPr sz="18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8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12504810)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(Mt</a:t>
            </a:r>
            <a:r>
              <a:rPr sz="18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800" spc="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12502673)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33765" y="5019294"/>
            <a:ext cx="2277745" cy="86550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800" b="1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1800" b="1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5">
                <a:latin typeface="Times New Roman" panose="02020603050405020304"/>
                <a:cs typeface="Times New Roman" panose="02020603050405020304"/>
              </a:rPr>
              <a:t>by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800">
                <a:latin typeface="Times New Roman" panose="02020603050405020304"/>
                <a:cs typeface="Times New Roman" panose="02020603050405020304"/>
              </a:rPr>
              <a:t>Prof. Hamidreza</a:t>
            </a:r>
            <a:r>
              <a:rPr sz="1800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>
                <a:latin typeface="Times New Roman" panose="02020603050405020304"/>
                <a:cs typeface="Times New Roman" panose="02020603050405020304"/>
              </a:rPr>
              <a:t>Heidari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259" y="463867"/>
            <a:ext cx="11079480" cy="492443"/>
          </a:xfrm>
        </p:spPr>
        <p:txBody>
          <a:bodyPr/>
          <a:lstStyle/>
          <a:p>
            <a:r>
              <a:rPr lang="en-US"/>
              <a:t>Contents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5307" y="1204022"/>
            <a:ext cx="10141585" cy="4723729"/>
          </a:xfrm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</a:rPr>
              <a:t>Problem statement</a:t>
            </a:r>
            <a:endParaRPr lang="en-US" sz="2400">
              <a:latin typeface="Times New Roman"/>
              <a:ea typeface="Calibri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</a:rPr>
              <a:t>Project Workflow</a:t>
            </a:r>
            <a:endParaRPr lang="en-US" sz="2400">
              <a:latin typeface="Times New Roman"/>
              <a:ea typeface="Calibri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</a:rPr>
              <a:t>Results and validation</a:t>
            </a:r>
            <a:endParaRPr lang="en-US" sz="2400">
              <a:latin typeface="Times New Roman"/>
              <a:ea typeface="Calibri" panose="020F0502020204030204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</a:rPr>
              <a:t>Future scope</a:t>
            </a:r>
            <a:endParaRPr lang="en-IN" sz="2400">
              <a:latin typeface="Times New Roman"/>
              <a:ea typeface="Calibri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</a:rPr>
              <a:t>References</a:t>
            </a:r>
            <a:br>
              <a:rPr lang="en-US"/>
            </a:br>
            <a:endParaRPr lang="en-IN">
              <a:ea typeface="Calibri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09" y="492442"/>
            <a:ext cx="11079480" cy="492443"/>
          </a:xfrm>
        </p:spPr>
        <p:txBody>
          <a:bodyPr/>
          <a:lstStyle/>
          <a:p>
            <a:r>
              <a:rPr lang="en-US"/>
              <a:t>Problem Statement</a:t>
            </a:r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04800" y="1529750"/>
            <a:ext cx="9763125" cy="44383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Surface defects in automotive spur gears (scratch, dent, crack, pitting) can reduce drivetrain reliability.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Manual and rule-based inspection methods are subjective and do not scale well for high production volumes.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There is a need for a data-driven vision system that ensures accurate defect detection under real-time inference constraints.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This work evaluates deep learning models for defect classification and detection, focusing on accuracy, robustness, and inference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09" y="492442"/>
            <a:ext cx="1107948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Objectives</a:t>
            </a:r>
            <a:endParaRPr lang="en-IN" err="1"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820400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800" b="1">
              <a:latin typeface="+mj-lt"/>
            </a:endParaRPr>
          </a:p>
          <a:p>
            <a:endParaRPr lang="en-IN" b="1">
              <a:latin typeface="Calibri"/>
              <a:ea typeface="Calibri"/>
              <a:cs typeface="Calibri"/>
            </a:endParaRPr>
          </a:p>
          <a:p>
            <a:r>
              <a:rPr lang="en-IN" b="1">
                <a:latin typeface="Times New Roman"/>
                <a:ea typeface="Calibri"/>
                <a:cs typeface="Calibri"/>
              </a:rPr>
              <a:t>Compare both approaches using:</a:t>
            </a:r>
            <a:endParaRPr lang="en-IN">
              <a:latin typeface="Times New Roman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IN">
                <a:latin typeface="Times New Roman"/>
                <a:ea typeface="Calibri"/>
                <a:cs typeface="Calibri"/>
              </a:rPr>
              <a:t>Accuracy / Precision / Recall / F1-score (classification)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ea typeface="Calibri"/>
                <a:cs typeface="Calibri"/>
              </a:rPr>
              <a:t>mAp50 / mAp50-95(detection)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ea typeface="Calibri"/>
                <a:cs typeface="Calibri"/>
              </a:rPr>
              <a:t>Inference latency for real-time suitability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Productivity rate</a:t>
            </a:r>
            <a:endParaRPr lang="en-US" sz="180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7676" y="1219200"/>
            <a:ext cx="11121391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T</a:t>
            </a:r>
            <a:r>
              <a:rPr lang="en-US">
                <a:latin typeface="Times New Roman"/>
                <a:ea typeface="Calibri"/>
                <a:cs typeface="Calibri"/>
              </a:rPr>
              <a:t>rain an object detection model (YOLOv8) to detect defects and localize them with bounding boxes. </a:t>
            </a:r>
            <a:endParaRPr lang="en-US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cs typeface="Times New Roman"/>
              </a:rPr>
              <a:t>Train an image classification model (MobileNetV2) to classify images into: good, scratch, dent. </a:t>
            </a:r>
            <a:endParaRPr lang="en-US">
              <a:latin typeface="Times New Roman"/>
              <a:ea typeface="Calibri" panose="020F0502020204030204" pitchFamily="34" charset="0"/>
              <a:cs typeface="Times New Roman"/>
            </a:endParaRPr>
          </a:p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259" y="159067"/>
            <a:ext cx="11079480" cy="98488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Workflow</a:t>
            </a:r>
            <a:br>
              <a:rPr lang="en-US"/>
            </a:b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5307" y="1234811"/>
            <a:ext cx="10141585" cy="13018949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/>
                <a:cs typeface="Times New Roman"/>
              </a:rPr>
              <a:t>This project follows an end-to-end engineering methodology covering data creation, model development and performance validation to integrate into an industrial AI-based inspection system.</a:t>
            </a:r>
          </a:p>
          <a:p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1. Data Preparation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CAD-based synthetic spur gear dataset</a:t>
            </a: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Defects added: scratches, dents, voids</a:t>
            </a: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Variations in lighting, orientation, camera angle</a:t>
            </a: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/>
                <a:cs typeface="Times New Roman"/>
              </a:rPr>
              <a:t>Dataset split: 80% train | 10% </a:t>
            </a:r>
            <a:r>
              <a:rPr lang="en-IN" err="1">
                <a:latin typeface="Times New Roman"/>
                <a:cs typeface="Times New Roman"/>
              </a:rPr>
              <a:t>val</a:t>
            </a:r>
            <a:r>
              <a:rPr lang="en-IN">
                <a:latin typeface="Times New Roman"/>
                <a:cs typeface="Times New Roman"/>
              </a:rPr>
              <a:t> | 10% test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2. Annotation &amp; Quality Assurance</a:t>
            </a:r>
          </a:p>
          <a:p>
            <a:pPr marL="285750" indent="-285750">
              <a:buFont typeface="Arial"/>
              <a:buChar char="•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Manual annotation in YOLO format</a:t>
            </a: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verification using Python scripts</a:t>
            </a: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Ensured clean, reliable training data</a:t>
            </a:r>
          </a:p>
          <a:p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9067"/>
            <a:ext cx="11178539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IN"/>
              <a:t>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157" y="838200"/>
            <a:ext cx="10198735" cy="830996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IN" b="1">
                <a:latin typeface="Times New Roman"/>
              </a:rPr>
              <a:t>3. Model Development</a:t>
            </a:r>
          </a:p>
          <a:p>
            <a:br>
              <a:rPr lang="en-IN"/>
            </a:br>
            <a:r>
              <a:rPr lang="en-IN">
                <a:latin typeface="Times New Roman"/>
              </a:rPr>
              <a:t>YOLOv8 → Defect detection &amp; localization, MobileNetV2 → Lightweight defect classification</a:t>
            </a:r>
            <a:endParaRPr lang="en-IN">
              <a:latin typeface="Times New Roman"/>
              <a:ea typeface="Calibri"/>
            </a:endParaRPr>
          </a:p>
          <a:p>
            <a:r>
              <a:rPr lang="en-IN">
                <a:latin typeface="Times New Roman"/>
              </a:rPr>
              <a:t>Training strategy:</a:t>
            </a:r>
            <a:br>
              <a:rPr lang="en-IN">
                <a:latin typeface="Times New Roman"/>
              </a:rPr>
            </a:br>
            <a:endParaRPr lang="en-IN">
              <a:latin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cs typeface="Times New Roman"/>
              </a:rPr>
              <a:t>Transfer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cs typeface="Times New Roman"/>
              </a:rPr>
              <a:t>Hyperparameter tuning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cs typeface="Times New Roman"/>
              </a:rPr>
              <a:t>Data augmentation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cs typeface="Times New Roman"/>
              </a:rPr>
              <a:t>Early stopping</a:t>
            </a:r>
          </a:p>
          <a:p>
            <a:br>
              <a:rPr lang="en-IN"/>
            </a:br>
            <a:r>
              <a:rPr lang="en-IN" b="1">
                <a:latin typeface="Times New Roman"/>
              </a:rPr>
              <a:t>4. Evaluation &amp; Validation</a:t>
            </a:r>
            <a:endParaRPr lang="en-IN" b="1">
              <a:latin typeface="Times New Roman"/>
              <a:ea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/>
                <a:ea typeface="Calibri"/>
              </a:rPr>
              <a:t>Tested on unseen dataset</a:t>
            </a: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/>
                <a:ea typeface="Calibri"/>
              </a:rPr>
              <a:t>Cross-validated using both models for reliability</a:t>
            </a: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/>
                <a:ea typeface="Calibri"/>
              </a:rPr>
              <a:t>Metrics: Accuracy, Precision, Recall, F1, mAP@50, Latency, Productivity Rate</a:t>
            </a:r>
          </a:p>
          <a:p>
            <a:endParaRPr lang="en-IN"/>
          </a:p>
          <a:p>
            <a:r>
              <a:rPr lang="en-IN" b="1">
                <a:latin typeface="Times New Roman"/>
              </a:rPr>
              <a:t>5. Future Work - Hardware Integration</a:t>
            </a:r>
            <a:endParaRPr lang="en-IN" b="1">
              <a:latin typeface="Times New Roman"/>
              <a:ea typeface="Calibri"/>
            </a:endParaRPr>
          </a:p>
          <a:p>
            <a:pPr marL="285750" indent="-285750">
              <a:buFont typeface="Arial"/>
              <a:buChar char="•"/>
            </a:pPr>
            <a:endParaRPr lang="en-IN">
              <a:ea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IN" err="1">
                <a:latin typeface="Times New Roman"/>
              </a:rPr>
              <a:t>RoboDK</a:t>
            </a:r>
            <a:r>
              <a:rPr lang="en-IN">
                <a:latin typeface="Times New Roman"/>
              </a:rPr>
              <a:t> for robotic inspection cell simulation</a:t>
            </a:r>
            <a:endParaRPr lang="en-IN">
              <a:latin typeface="Times New Roman"/>
              <a:ea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IN" err="1">
                <a:latin typeface="Times New Roman"/>
              </a:rPr>
              <a:t>SimPy</a:t>
            </a:r>
            <a:r>
              <a:rPr lang="en-IN">
                <a:latin typeface="Times New Roman"/>
              </a:rPr>
              <a:t> for inspection workflow logic</a:t>
            </a:r>
            <a:endParaRPr lang="en-IN">
              <a:latin typeface="Times New Roman"/>
              <a:ea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IN">
                <a:latin typeface="Times New Roman"/>
              </a:rPr>
              <a:t>Workflow:</a:t>
            </a:r>
            <a:br>
              <a:rPr lang="en-IN">
                <a:latin typeface="Times New Roman"/>
              </a:rPr>
            </a:br>
            <a:r>
              <a:rPr lang="en-IN">
                <a:latin typeface="Times New Roman"/>
              </a:rPr>
              <a:t>Conveyor → Image Capture → AI Inference → Accept/Reject Sorting</a:t>
            </a:r>
            <a:endParaRPr lang="en-IN">
              <a:latin typeface="Times New Roman"/>
              <a:ea typeface="Calibri" panose="020F0502020204030204"/>
            </a:endParaRPr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  <a:p>
            <a:endParaRPr lang="en-IN"/>
          </a:p>
          <a:p>
            <a:br>
              <a:rPr lang="en-IN"/>
            </a:br>
            <a:endParaRPr lang="en-IN"/>
          </a:p>
          <a:p>
            <a:br>
              <a:rPr lang="en-IN"/>
            </a:br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259" y="159067"/>
            <a:ext cx="1107948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Image classification results 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909E28-4AAE-951B-4990-9814B0659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076325"/>
            <a:ext cx="4736042" cy="4933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671972-D2DB-9252-232D-A3DFA1DFB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488" y="1013354"/>
            <a:ext cx="4581525" cy="5000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E01E13-3D22-5BD0-C9C1-E3CC0B04C0A8}"/>
              </a:ext>
            </a:extLst>
          </p:cNvPr>
          <p:cNvSpPr txBox="1"/>
          <p:nvPr/>
        </p:nvSpPr>
        <p:spPr>
          <a:xfrm>
            <a:off x="1365250" y="6238874"/>
            <a:ext cx="32861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Results from YOLOv8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46970F-84E4-452D-E44A-1C97E7E15026}"/>
              </a:ext>
            </a:extLst>
          </p:cNvPr>
          <p:cNvSpPr txBox="1"/>
          <p:nvPr/>
        </p:nvSpPr>
        <p:spPr>
          <a:xfrm>
            <a:off x="6886989" y="6238874"/>
            <a:ext cx="32861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Results from MobileNetV2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1723-DCC9-AE2D-8FEA-F44979F12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59" y="159067"/>
            <a:ext cx="1107948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Loss Curves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1E09E-2CDB-A6CA-AFE2-21E576541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4" y="650345"/>
            <a:ext cx="6857999" cy="53562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EA804B-BC69-474F-360C-BF0393218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25" y="802747"/>
            <a:ext cx="4444712" cy="5210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F0B9C3-0A79-20B5-18D7-0FE2BD8083AA}"/>
              </a:ext>
            </a:extLst>
          </p:cNvPr>
          <p:cNvSpPr txBox="1"/>
          <p:nvPr/>
        </p:nvSpPr>
        <p:spPr>
          <a:xfrm>
            <a:off x="2233084" y="601133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</a:rPr>
              <a:t>Loss curve for</a:t>
            </a:r>
            <a:r>
              <a:rPr lang="en-US" baseline="0">
                <a:latin typeface="Times New Roman"/>
              </a:rPr>
              <a:t> YOLOv8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2462B2-57FE-FBAF-B89F-575241392396}"/>
              </a:ext>
            </a:extLst>
          </p:cNvPr>
          <p:cNvSpPr txBox="1"/>
          <p:nvPr/>
        </p:nvSpPr>
        <p:spPr>
          <a:xfrm>
            <a:off x="8127999" y="6011333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</a:rPr>
              <a:t>Loss curve for MobileNetV2</a:t>
            </a:r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796355-3FA8-E67C-DDD0-048B440A08A3}"/>
              </a:ext>
            </a:extLst>
          </p:cNvPr>
          <p:cNvCxnSpPr/>
          <p:nvPr/>
        </p:nvCxnSpPr>
        <p:spPr>
          <a:xfrm>
            <a:off x="7223125" y="650875"/>
            <a:ext cx="14817" cy="5856816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42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5D255-003E-1FB0-0172-43DD94BC8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1012-79E8-5FCB-3897-2B3A7F859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59" y="159067"/>
            <a:ext cx="1107948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Model Performance Comparison 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3E2309-C148-2B25-745A-4D9CBD94D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14" y="652722"/>
            <a:ext cx="6684603" cy="578004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84A33F-1A00-87FB-3C56-59A57F75B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040110"/>
              </p:ext>
            </p:extLst>
          </p:nvPr>
        </p:nvGraphicFramePr>
        <p:xfrm>
          <a:off x="6870743" y="2211635"/>
          <a:ext cx="5371876" cy="4001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233">
                  <a:extLst>
                    <a:ext uri="{9D8B030D-6E8A-4147-A177-3AD203B41FA5}">
                      <a16:colId xmlns:a16="http://schemas.microsoft.com/office/drawing/2014/main" val="4065495611"/>
                    </a:ext>
                  </a:extLst>
                </a:gridCol>
                <a:gridCol w="980233">
                  <a:extLst>
                    <a:ext uri="{9D8B030D-6E8A-4147-A177-3AD203B41FA5}">
                      <a16:colId xmlns:a16="http://schemas.microsoft.com/office/drawing/2014/main" val="1465126038"/>
                    </a:ext>
                  </a:extLst>
                </a:gridCol>
                <a:gridCol w="1336428">
                  <a:extLst>
                    <a:ext uri="{9D8B030D-6E8A-4147-A177-3AD203B41FA5}">
                      <a16:colId xmlns:a16="http://schemas.microsoft.com/office/drawing/2014/main" val="3050107907"/>
                    </a:ext>
                  </a:extLst>
                </a:gridCol>
                <a:gridCol w="1002321">
                  <a:extLst>
                    <a:ext uri="{9D8B030D-6E8A-4147-A177-3AD203B41FA5}">
                      <a16:colId xmlns:a16="http://schemas.microsoft.com/office/drawing/2014/main" val="380742090"/>
                    </a:ext>
                  </a:extLst>
                </a:gridCol>
                <a:gridCol w="1072661">
                  <a:extLst>
                    <a:ext uri="{9D8B030D-6E8A-4147-A177-3AD203B41FA5}">
                      <a16:colId xmlns:a16="http://schemas.microsoft.com/office/drawing/2014/main" val="1400611343"/>
                    </a:ext>
                  </a:extLst>
                </a:gridCol>
              </a:tblGrid>
              <a:tr h="615676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Class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76413"/>
                  </a:ext>
                </a:extLst>
              </a:tr>
              <a:tr h="1077432">
                <a:tc>
                  <a:txBody>
                    <a:bodyPr/>
                    <a:lstStyle/>
                    <a:p>
                      <a:r>
                        <a:rPr lang="en-US"/>
                        <a:t>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.75000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.81818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470731"/>
                  </a:ext>
                </a:extLst>
              </a:tr>
              <a:tr h="10774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MobileNetV2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.88888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.84210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30418"/>
                  </a:ext>
                </a:extLst>
              </a:tr>
              <a:tr h="615676">
                <a:tc>
                  <a:txBody>
                    <a:bodyPr/>
                    <a:lstStyle/>
                    <a:p>
                      <a:r>
                        <a:rPr lang="en-US"/>
                        <a:t>YOLOv8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.95400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.80749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713297"/>
                  </a:ext>
                </a:extLst>
              </a:tr>
              <a:tr h="61567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YOLOv8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.94600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.97225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38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413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E774-6314-FBE0-EF3B-F972CD8A7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68E29-6394-E829-E2A8-0F83AA25D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59" y="159067"/>
            <a:ext cx="1107948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Model Performance Comparison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D9338-66D7-4B87-8ABE-7B61A0882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95" y="865667"/>
            <a:ext cx="5575467" cy="55976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8A03A9-1556-E8BA-3226-2BCE8928E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560839"/>
              </p:ext>
            </p:extLst>
          </p:nvPr>
        </p:nvGraphicFramePr>
        <p:xfrm>
          <a:off x="6478172" y="2644961"/>
          <a:ext cx="5336077" cy="2532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293">
                  <a:extLst>
                    <a:ext uri="{9D8B030D-6E8A-4147-A177-3AD203B41FA5}">
                      <a16:colId xmlns:a16="http://schemas.microsoft.com/office/drawing/2014/main" val="2558522000"/>
                    </a:ext>
                  </a:extLst>
                </a:gridCol>
                <a:gridCol w="2268092">
                  <a:extLst>
                    <a:ext uri="{9D8B030D-6E8A-4147-A177-3AD203B41FA5}">
                      <a16:colId xmlns:a16="http://schemas.microsoft.com/office/drawing/2014/main" val="4260099489"/>
                    </a:ext>
                  </a:extLst>
                </a:gridCol>
                <a:gridCol w="1778692">
                  <a:extLst>
                    <a:ext uri="{9D8B030D-6E8A-4147-A177-3AD203B41FA5}">
                      <a16:colId xmlns:a16="http://schemas.microsoft.com/office/drawing/2014/main" val="2652996553"/>
                    </a:ext>
                  </a:extLst>
                </a:gridCol>
              </a:tblGrid>
              <a:tr h="630712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YOLOv8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541269"/>
                  </a:ext>
                </a:extLst>
              </a:tr>
              <a:tr h="630712">
                <a:tc>
                  <a:txBody>
                    <a:bodyPr/>
                    <a:lstStyle/>
                    <a:p>
                      <a:r>
                        <a:rPr lang="en-US"/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.86666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NaN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159923"/>
                  </a:ext>
                </a:extLst>
              </a:tr>
              <a:tr h="630712">
                <a:tc>
                  <a:txBody>
                    <a:bodyPr/>
                    <a:lstStyle/>
                    <a:p>
                      <a:r>
                        <a:rPr lang="en-US"/>
                        <a:t>mAP50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.964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541359"/>
                  </a:ext>
                </a:extLst>
              </a:tr>
              <a:tr h="630712">
                <a:tc>
                  <a:txBody>
                    <a:bodyPr/>
                    <a:lstStyle/>
                    <a:p>
                      <a:r>
                        <a:rPr lang="en-US"/>
                        <a:t>MAP50-95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.505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885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552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259" y="512458"/>
            <a:ext cx="1107948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YOLOv8 Inference Latency</a:t>
            </a:r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439644"/>
            <a:ext cx="5139634" cy="44719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19284" y="2438400"/>
            <a:ext cx="5389033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ea typeface="Calibri"/>
                <a:cs typeface="Calibri"/>
              </a:rPr>
              <a:t>Latency measured on GPU (Tesla T4, Colab) with warm-up runs, then multiple timed inferences.</a:t>
            </a:r>
            <a:endParaRPr lang="en-US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Calibri"/>
                <a:cs typeface="Calibri"/>
              </a:rPr>
              <a:t>Result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ea typeface="Calibri"/>
                <a:cs typeface="Calibri"/>
              </a:rPr>
              <a:t> </a:t>
            </a:r>
            <a:r>
              <a:rPr lang="en-IN" err="1">
                <a:latin typeface="Times New Roman"/>
                <a:cs typeface="Times New Roman"/>
              </a:rPr>
              <a:t>Avg</a:t>
            </a:r>
            <a:r>
              <a:rPr lang="en-IN">
                <a:latin typeface="Times New Roman"/>
                <a:cs typeface="Times New Roman"/>
              </a:rPr>
              <a:t> Latency: </a:t>
            </a:r>
            <a:r>
              <a:rPr lang="en-IN" b="1">
                <a:latin typeface="Times New Roman"/>
                <a:cs typeface="Times New Roman"/>
              </a:rPr>
              <a:t>21.87 </a:t>
            </a:r>
            <a:r>
              <a:rPr lang="en-IN" b="1" err="1">
                <a:latin typeface="Times New Roman"/>
                <a:cs typeface="Times New Roman"/>
              </a:rPr>
              <a:t>ms</a:t>
            </a:r>
            <a:r>
              <a:rPr lang="en-IN" b="1">
                <a:latin typeface="Times New Roman"/>
                <a:cs typeface="Times New Roman"/>
              </a:rPr>
              <a:t> </a:t>
            </a:r>
            <a:r>
              <a:rPr lang="en-IN">
                <a:latin typeface="Times New Roman"/>
                <a:cs typeface="Times New Roman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cs typeface="Times New Roman"/>
              </a:rPr>
              <a:t>Std Latency: </a:t>
            </a:r>
            <a:r>
              <a:rPr lang="en-IN" b="1">
                <a:latin typeface="Times New Roman"/>
                <a:cs typeface="Times New Roman"/>
              </a:rPr>
              <a:t>2.83 </a:t>
            </a:r>
            <a:r>
              <a:rPr lang="en-IN" b="1" err="1">
                <a:latin typeface="Times New Roman"/>
                <a:cs typeface="Times New Roman"/>
              </a:rPr>
              <a:t>ms</a:t>
            </a:r>
            <a:endParaRPr lang="en-US" sz="1800" b="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259" y="159067"/>
            <a:ext cx="11079480" cy="492443"/>
          </a:xfrm>
        </p:spPr>
        <p:txBody>
          <a:bodyPr/>
          <a:lstStyle/>
          <a:p>
            <a:r>
              <a:rPr lang="en-US"/>
              <a:t>MobileNetV2 Inference Latency </a:t>
            </a:r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84" y="656166"/>
            <a:ext cx="6356348" cy="57483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45867" y="2156806"/>
            <a:ext cx="4849706" cy="25423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ea typeface="Calibri"/>
                <a:cs typeface="Calibri"/>
              </a:rPr>
              <a:t>Latency stays consistent across test images with small variations.</a:t>
            </a:r>
            <a:endParaRPr lang="en-US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ea typeface="Calibri"/>
                <a:cs typeface="Calibri"/>
              </a:rPr>
              <a:t>Most predictions fall around </a:t>
            </a:r>
            <a:r>
              <a:rPr lang="en-US" sz="1800" b="1">
                <a:latin typeface="Times New Roman"/>
                <a:ea typeface="Calibri"/>
                <a:cs typeface="Calibri"/>
              </a:rPr>
              <a:t>12–13 </a:t>
            </a:r>
            <a:r>
              <a:rPr lang="en-US" sz="1800" b="1" err="1">
                <a:latin typeface="Times New Roman"/>
                <a:ea typeface="Calibri"/>
                <a:cs typeface="Calibri"/>
              </a:rPr>
              <a:t>ms</a:t>
            </a:r>
            <a:r>
              <a:rPr lang="en-US" sz="1800">
                <a:latin typeface="Times New Roman"/>
                <a:ea typeface="Calibri"/>
                <a:cs typeface="Calibri"/>
              </a:rPr>
              <a:t>, with rare spikes.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latin typeface="Times New Roman"/>
                <a:ea typeface="Calibri"/>
                <a:cs typeface="Calibri"/>
              </a:rPr>
              <a:t>Indicates efficient deployment potential for edge/production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259" y="159067"/>
            <a:ext cx="1107948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IN"/>
              <a:t>Inference Latency Comparison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914400"/>
            <a:ext cx="9620567" cy="39508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0252" y="4725798"/>
            <a:ext cx="10485279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80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M</a:t>
            </a:r>
            <a:r>
              <a:rPr lang="en-US" sz="1800">
                <a:latin typeface="Calibri"/>
                <a:ea typeface="Calibri"/>
                <a:cs typeface="Calibri"/>
              </a:rPr>
              <a:t>obileNetV2 is consistently faster (~12–13 </a:t>
            </a:r>
            <a:r>
              <a:rPr lang="en-US" sz="1800" err="1">
                <a:latin typeface="Calibri"/>
                <a:ea typeface="Calibri"/>
                <a:cs typeface="Calibri"/>
              </a:rPr>
              <a:t>ms</a:t>
            </a:r>
            <a:r>
              <a:rPr lang="en-US" sz="1800">
                <a:latin typeface="Calibri"/>
                <a:ea typeface="Calibri"/>
                <a:cs typeface="Calibri"/>
              </a:rPr>
              <a:t>/image) than YOLOv8 (~20–25 </a:t>
            </a:r>
            <a:r>
              <a:rPr lang="en-US" sz="1800" err="1">
                <a:latin typeface="Calibri"/>
                <a:ea typeface="Calibri"/>
                <a:cs typeface="Calibri"/>
              </a:rPr>
              <a:t>ms</a:t>
            </a:r>
            <a:r>
              <a:rPr lang="en-US" sz="1800">
                <a:latin typeface="Calibri"/>
                <a:ea typeface="Calibri"/>
                <a:cs typeface="Calibri"/>
              </a:rPr>
              <a:t>/image)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Productivity of MobileNetV2: 80 images/sec, YOLOv8: 45 images/sec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YOLOv8</a:t>
            </a:r>
            <a:r>
              <a:rPr lang="en-US" sz="1800">
                <a:latin typeface="Calibri"/>
                <a:ea typeface="Calibri"/>
                <a:cs typeface="Calibri"/>
              </a:rPr>
              <a:t> shows higher variance and occasional spikes, due to detection + post-processing overhead.</a:t>
            </a:r>
            <a:endParaRPr lang="en-US"/>
          </a:p>
          <a:p>
            <a:endParaRPr lang="en-US" sz="18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29F6-443F-6CA7-53ED-9F257B9F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59" y="711241"/>
            <a:ext cx="1107948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DE864-C656-DCE7-E6E7-76574AC81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5307" y="1204023"/>
            <a:ext cx="11069237" cy="5078313"/>
          </a:xfrm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/>
              <a:buChar char="•"/>
            </a:pPr>
            <a:endParaRPr lang="en-US">
              <a:ea typeface="Calibri"/>
            </a:endParaRPr>
          </a:p>
          <a:p>
            <a:pPr algn="l">
              <a:buFont typeface="Arial"/>
              <a:buChar char="•"/>
            </a:pPr>
            <a:r>
              <a:rPr lang="en-US" sz="2400">
                <a:ea typeface="Calibri"/>
              </a:rPr>
              <a:t>  </a:t>
            </a:r>
            <a:r>
              <a:rPr lang="en-US" sz="2400">
                <a:latin typeface="Times New Roman"/>
                <a:ea typeface="Calibri"/>
              </a:rPr>
              <a:t>YOLOv8 achieves higher detection quality (mAP50 ≈ 0.964, mAP50–95 ≈ 0.505) and provides bounding-box localization. </a:t>
            </a:r>
            <a:endParaRPr lang="en-US">
              <a:latin typeface="Times New Roman"/>
              <a:ea typeface="Calibri" panose="020F0502020204030204"/>
            </a:endParaRPr>
          </a:p>
          <a:p>
            <a:pPr algn="l">
              <a:buFont typeface="Arial"/>
              <a:buChar char="•"/>
            </a:pPr>
            <a:endParaRPr lang="en-US">
              <a:latin typeface="Times New Roman"/>
            </a:endParaRPr>
          </a:p>
          <a:p>
            <a:pPr algn="l">
              <a:buFont typeface="Arial"/>
              <a:buChar char="•"/>
            </a:pPr>
            <a:r>
              <a:rPr lang="en-US" sz="2400">
                <a:latin typeface="Times New Roman"/>
                <a:ea typeface="Calibri"/>
              </a:rPr>
              <a:t>   MobileNetV2 gives strong classification performance (accuracy ≈ 0.867) and is faster (~12–13 </a:t>
            </a:r>
            <a:r>
              <a:rPr lang="en-US" sz="2400" err="1">
                <a:latin typeface="Times New Roman"/>
                <a:ea typeface="Calibri"/>
              </a:rPr>
              <a:t>ms</a:t>
            </a:r>
            <a:r>
              <a:rPr lang="en-US" sz="2400">
                <a:latin typeface="Times New Roman"/>
                <a:ea typeface="Calibri"/>
              </a:rPr>
              <a:t>/image) than YOLOv8 (~22 </a:t>
            </a:r>
            <a:r>
              <a:rPr lang="en-US" sz="2400" err="1">
                <a:latin typeface="Times New Roman"/>
                <a:ea typeface="Calibri"/>
              </a:rPr>
              <a:t>ms</a:t>
            </a:r>
            <a:r>
              <a:rPr lang="en-US" sz="2400">
                <a:latin typeface="Times New Roman"/>
                <a:ea typeface="Calibri"/>
              </a:rPr>
              <a:t>/image). </a:t>
            </a:r>
          </a:p>
          <a:p>
            <a:pPr algn="l">
              <a:buFont typeface="Arial"/>
              <a:buChar char="•"/>
            </a:pPr>
            <a:endParaRPr lang="en-US">
              <a:latin typeface="Times New Roman"/>
            </a:endParaRPr>
          </a:p>
          <a:p>
            <a:pPr marL="285750" indent="-285750" algn="l">
              <a:lnSpc>
                <a:spcPct val="20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Calibri"/>
              </a:rPr>
              <a:t>Trade-off: YOLOv8 is best when defect location matters; MobileNetV2 is best for fast screening.</a:t>
            </a:r>
          </a:p>
          <a:p>
            <a:pPr algn="l">
              <a:lnSpc>
                <a:spcPct val="200000"/>
              </a:lnSpc>
              <a:buFont typeface="Arial"/>
            </a:pPr>
            <a:endParaRPr lang="en-US" sz="2400">
              <a:latin typeface="Times New Roman"/>
              <a:ea typeface="Calibri"/>
            </a:endParaRPr>
          </a:p>
          <a:p>
            <a:endParaRPr lang="en-US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8721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9E7DF-AA28-53AB-B022-7ECD184B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9731-943B-F677-3563-8BE6805B1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59" y="413067"/>
            <a:ext cx="1107948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CE915-B787-EA37-24B4-5CEF4DE22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5307" y="1204023"/>
            <a:ext cx="10141585" cy="3231654"/>
          </a:xfrm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Calibri"/>
              </a:rPr>
              <a:t>Validate models on real camera data</a:t>
            </a:r>
          </a:p>
          <a:p>
            <a:pPr marL="285750" indent="-285750" algn="l">
              <a:lnSpc>
                <a:spcPct val="20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Calibri"/>
              </a:rPr>
              <a:t>Optimize inference latency for edge devices</a:t>
            </a:r>
          </a:p>
          <a:p>
            <a:pPr marL="285750" indent="-285750" algn="l">
              <a:lnSpc>
                <a:spcPct val="20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Calibri"/>
              </a:rPr>
              <a:t>Extend to multi-view and multi-defect inspection</a:t>
            </a:r>
          </a:p>
          <a:p>
            <a:pPr marL="285750" indent="-285750" algn="l">
              <a:lnSpc>
                <a:spcPct val="200000"/>
              </a:lnSpc>
              <a:buFont typeface="Arial"/>
              <a:buChar char="•"/>
            </a:pPr>
            <a:r>
              <a:rPr lang="en-US" sz="2400">
                <a:latin typeface="Times New Roman"/>
                <a:ea typeface="Calibri"/>
              </a:rPr>
              <a:t>Enable real-time integration with automated systems</a:t>
            </a:r>
          </a:p>
          <a:p>
            <a:endParaRPr lang="en-US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4062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259" y="159067"/>
            <a:ext cx="11079480" cy="492125"/>
          </a:xfrm>
        </p:spPr>
        <p:txBody>
          <a:bodyPr/>
          <a:lstStyle/>
          <a:p>
            <a:r>
              <a:rPr lang="en-IN" altLang="en-GB"/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5307" y="1204023"/>
            <a:ext cx="10141585" cy="4431665"/>
          </a:xfrm>
        </p:spPr>
        <p:txBody>
          <a:bodyPr/>
          <a:lstStyle/>
          <a:p>
            <a:r>
              <a:rPr lang="en-US" altLang="en-GB"/>
              <a:t>Xiang Wan, Xiangyu Zhang and Lilan Liu, "An Improved VGG19 Transfer Learning Strip Steel Surface DefecRecognition Deep Neural Network Based on Few Samples and Imbalanced Datasets", https:// doi.org/10.3390/app11062606</a:t>
            </a:r>
          </a:p>
          <a:p>
            <a:endParaRPr lang="en-US" altLang="en-GB"/>
          </a:p>
          <a:p>
            <a:r>
              <a:rPr lang="en-US" altLang="en-GB"/>
              <a:t>K. Khurana, R. Kumar, and S. Singh, “Molo: Hybrid model using mobilenetv2 and yolov8 for edge devices,” Discover Artificial Intelligence, vol. 5, no. 1, pp. 1–15, 2025</a:t>
            </a:r>
          </a:p>
          <a:p>
            <a:endParaRPr lang="en-US" altLang="en-GB"/>
          </a:p>
          <a:p>
            <a:r>
              <a:rPr lang="en-US" altLang="en-GB"/>
              <a:t>R. Yan, H. Liu, Q. Zhao, and Y. Chen, “Stms-yolov5: A lightweight algorithm for gear surface defect detection,” Sensors, vol. 23, no. 12, p. 5581, 2023</a:t>
            </a:r>
          </a:p>
          <a:p>
            <a:endParaRPr lang="en-US" altLang="en-GB"/>
          </a:p>
          <a:p>
            <a:r>
              <a:rPr lang="en-US" altLang="en-GB"/>
              <a:t>H. Nguyen, “Mobilenetv2 + enhanced feature pyramid for fast object detection,” Journal of Theoretical and Applied Information Technology, vol. 98, no. 21, pp. 3341–3352, 2020</a:t>
            </a:r>
          </a:p>
          <a:p>
            <a:endParaRPr lang="en-US" altLang="en-GB"/>
          </a:p>
          <a:p>
            <a:r>
              <a:rPr lang="en-US" altLang="en-GB"/>
              <a:t>M. Sandler, A. Howard, M. Zhu, A. Zhmoginov, and L.-C. Chen, “Mobilenetv2: Inverted residuals and linear bottlenecks,” in Proceedings of the IEEE Conference on Computer Vision and Pattern Recognition (CVPR), 2018, pp. 4510–4520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/>
              <a:t>Thank</a:t>
            </a:r>
            <a:r>
              <a:rPr sz="4400" spc="-250"/>
              <a:t> </a:t>
            </a:r>
            <a:r>
              <a:rPr sz="4400" spc="-445"/>
              <a:t>Y</a:t>
            </a:r>
            <a:r>
              <a:rPr sz="4400" spc="20"/>
              <a:t>o</a:t>
            </a:r>
            <a:r>
              <a:rPr sz="4400" spc="60"/>
              <a:t>u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/>
              <a:t>03-01-</a:t>
            </a:r>
            <a:r>
              <a:rPr spc="-2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t>Case</a:t>
            </a:r>
            <a:r>
              <a:rPr spc="-60"/>
              <a:t> </a:t>
            </a:r>
            <a:r>
              <a:t>Study</a:t>
            </a:r>
            <a:r>
              <a:rPr spc="-70"/>
              <a:t> </a:t>
            </a:r>
            <a:r>
              <a:rPr spc="-10"/>
              <a:t>Intelligent</a:t>
            </a:r>
            <a:r>
              <a:rPr spc="-5"/>
              <a:t> </a:t>
            </a:r>
            <a:r>
              <a:t>Systems</a:t>
            </a:r>
            <a:r>
              <a:rPr spc="-5"/>
              <a:t> </a:t>
            </a:r>
            <a:r>
              <a:t>in</a:t>
            </a:r>
            <a:r>
              <a:rPr spc="-15"/>
              <a:t> </a:t>
            </a:r>
            <a:r>
              <a:rPr spc="-10"/>
              <a:t>Production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17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01992" y="3455987"/>
            <a:ext cx="108915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/>
                <a:cs typeface="Times New Roman" panose="02020603050405020304"/>
              </a:rPr>
              <a:t>https://github.com/Pallelayaswitha1/Integration-and-Comparison-of-vision-models-</a:t>
            </a:r>
            <a:r>
              <a:rPr sz="18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/>
                <a:cs typeface="Times New Roman" panose="02020603050405020304"/>
              </a:rPr>
              <a:t>for-</a:t>
            </a:r>
            <a:r>
              <a:rPr sz="1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/>
                <a:cs typeface="Times New Roman" panose="02020603050405020304"/>
              </a:rPr>
              <a:t>smart-inspection-cell/tree/main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Integration and Comparison of Vision Models for Smart Inspection Cell</vt:lpstr>
      <vt:lpstr>Contents</vt:lpstr>
      <vt:lpstr>Problem Statement</vt:lpstr>
      <vt:lpstr>Objectives</vt:lpstr>
      <vt:lpstr>Workflow </vt:lpstr>
      <vt:lpstr>Workflow</vt:lpstr>
      <vt:lpstr>Image classification results </vt:lpstr>
      <vt:lpstr>Loss Curves </vt:lpstr>
      <vt:lpstr>Model Performance Comparison  </vt:lpstr>
      <vt:lpstr>Model Performance Comparison </vt:lpstr>
      <vt:lpstr>YOLOv8 Inference Latency</vt:lpstr>
      <vt:lpstr>MobileNetV2 Inference Latency </vt:lpstr>
      <vt:lpstr>Inference Latency Comparison</vt:lpstr>
      <vt:lpstr>Conclusion</vt:lpstr>
      <vt:lpstr>Future Scope</vt:lpstr>
      <vt:lpstr>Reference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Thatikonda Rakshith</dc:creator>
  <cp:revision>6</cp:revision>
  <dcterms:created xsi:type="dcterms:W3CDTF">2026-01-13T11:33:00Z</dcterms:created>
  <dcterms:modified xsi:type="dcterms:W3CDTF">2026-01-15T09:49:45Z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2026-01-03T01:00:00Z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2026-01-03T01:00:00Z</vt:filetime>
  </property>
  <property fmtid="{D5CDD505-2E9C-101B-9397-08002B2CF9AE}" pid="6" name="ICV">
    <vt:lpwstr>CD3C473D44C84ACCB26E8C77FBD0955B_13</vt:lpwstr>
  </property>
  <property fmtid="{D5CDD505-2E9C-101B-9397-08002B2CF9AE}" pid="7" name="KSOProductBuildVer">
    <vt:lpwstr>2057-12.2.0.23197</vt:lpwstr>
  </property>
</Properties>
</file>